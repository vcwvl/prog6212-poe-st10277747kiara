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82" d="100"/>
          <a:sy n="82" d="100"/>
        </p:scale>
        <p:origin x="1144"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923941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599728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767256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4E321EF-78AF-4E3E-BED9-7B87DC45C0BD}" type="datetimeFigureOut">
              <a:rPr lang="en-ZA" smtClean="0"/>
              <a:t>2025/11/21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470497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4E321EF-78AF-4E3E-BED9-7B87DC45C0BD}" type="datetimeFigureOut">
              <a:rPr lang="en-ZA" smtClean="0"/>
              <a:t>2025/11/21</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793965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3"/>
          <p:cNvSpPr>
            <a:spLocks noGrp="1"/>
          </p:cNvSpPr>
          <p:nvPr>
            <p:ph type="ftr" sz="quarter" idx="11"/>
          </p:nvPr>
        </p:nvSpPr>
        <p:spPr/>
        <p:txBody>
          <a:bodyPr/>
          <a:lstStyle/>
          <a:p>
            <a:endParaRPr lang="en-ZA"/>
          </a:p>
        </p:txBody>
      </p:sp>
      <p:sp>
        <p:nvSpPr>
          <p:cNvPr id="6" name="Slide Number Placeholder 4"/>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1225156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2"/>
          <p:cNvSpPr>
            <a:spLocks noGrp="1"/>
          </p:cNvSpPr>
          <p:nvPr>
            <p:ph type="ftr" sz="quarter" idx="11"/>
          </p:nvPr>
        </p:nvSpPr>
        <p:spPr/>
        <p:txBody>
          <a:bodyPr/>
          <a:lstStyle/>
          <a:p>
            <a:endParaRPr lang="en-ZA"/>
          </a:p>
        </p:txBody>
      </p:sp>
      <p:sp>
        <p:nvSpPr>
          <p:cNvPr id="6" name="Slide Number Placeholder 3"/>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227700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5"/>
          <p:cNvSpPr>
            <a:spLocks noGrp="1"/>
          </p:cNvSpPr>
          <p:nvPr>
            <p:ph type="ftr" sz="quarter" idx="11"/>
          </p:nvPr>
        </p:nvSpPr>
        <p:spPr/>
        <p:txBody>
          <a:bodyPr/>
          <a:lstStyle/>
          <a:p>
            <a:endParaRPr lang="en-ZA"/>
          </a:p>
        </p:txBody>
      </p:sp>
      <p:sp>
        <p:nvSpPr>
          <p:cNvPr id="6" name="Slide Number Placeholder 6"/>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2925348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4E321EF-78AF-4E3E-BED9-7B87DC45C0BD}" type="datetimeFigureOut">
              <a:rPr lang="en-ZA" smtClean="0"/>
              <a:t>2025/11/21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3867158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4E321EF-78AF-4E3E-BED9-7B87DC45C0BD}" type="datetimeFigureOut">
              <a:rPr lang="en-ZA" smtClean="0"/>
              <a:t>2025/11/21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940112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3083489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634FC89E-72EB-4C2D-9726-CA4432BDF15E}" type="slidenum">
              <a:rPr lang="en-ZA" smtClean="0"/>
              <a:t>‹#›</a:t>
            </a:fld>
            <a:endParaRPr lang="en-ZA"/>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55505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3014413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4E321EF-78AF-4E3E-BED9-7B87DC45C0BD}" type="datetimeFigureOut">
              <a:rPr lang="en-ZA" smtClean="0"/>
              <a:t>2025/11/21</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10502881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4E321EF-78AF-4E3E-BED9-7B87DC45C0BD}" type="datetimeFigureOut">
              <a:rPr lang="en-ZA" smtClean="0"/>
              <a:t>2025/11/21</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577865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28338556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4E321EF-78AF-4E3E-BED9-7B87DC45C0BD}"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634FC89E-72EB-4C2D-9726-CA4432BDF15E}" type="slidenum">
              <a:rPr lang="en-ZA" smtClean="0"/>
              <a:t>‹#›</a:t>
            </a:fld>
            <a:endParaRPr lang="en-ZA"/>
          </a:p>
        </p:txBody>
      </p:sp>
    </p:spTree>
    <p:extLst>
      <p:ext uri="{BB962C8B-B14F-4D97-AF65-F5344CB8AC3E}">
        <p14:creationId xmlns:p14="http://schemas.microsoft.com/office/powerpoint/2010/main" val="2409782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4E321EF-78AF-4E3E-BED9-7B87DC45C0BD}" type="datetimeFigureOut">
              <a:rPr lang="en-ZA" smtClean="0"/>
              <a:t>2025/11/21</a:t>
            </a:fld>
            <a:endParaRPr lang="en-Z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ZA"/>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34FC89E-72EB-4C2D-9726-CA4432BDF15E}" type="slidenum">
              <a:rPr lang="en-ZA" smtClean="0"/>
              <a:t>‹#›</a:t>
            </a:fld>
            <a:endParaRPr lang="en-ZA"/>
          </a:p>
        </p:txBody>
      </p:sp>
    </p:spTree>
    <p:extLst>
      <p:ext uri="{BB962C8B-B14F-4D97-AF65-F5344CB8AC3E}">
        <p14:creationId xmlns:p14="http://schemas.microsoft.com/office/powerpoint/2010/main" val="5282712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814D-5882-7178-595B-EC1A3865763C}"/>
              </a:ext>
            </a:extLst>
          </p:cNvPr>
          <p:cNvSpPr>
            <a:spLocks noGrp="1"/>
          </p:cNvSpPr>
          <p:nvPr>
            <p:ph type="ctrTitle"/>
          </p:nvPr>
        </p:nvSpPr>
        <p:spPr/>
        <p:txBody>
          <a:bodyPr/>
          <a:lstStyle/>
          <a:p>
            <a:r>
              <a:rPr lang="en-GB" b="1" u="sng" dirty="0"/>
              <a:t>CMCS POE PART3 </a:t>
            </a:r>
            <a:endParaRPr lang="en-ZA" b="1" u="sng" dirty="0"/>
          </a:p>
        </p:txBody>
      </p:sp>
      <p:sp>
        <p:nvSpPr>
          <p:cNvPr id="3" name="Subtitle 2">
            <a:extLst>
              <a:ext uri="{FF2B5EF4-FFF2-40B4-BE49-F238E27FC236}">
                <a16:creationId xmlns:a16="http://schemas.microsoft.com/office/drawing/2014/main" id="{F7B4FC72-6B43-88F3-BD13-FF22D6DF6869}"/>
              </a:ext>
            </a:extLst>
          </p:cNvPr>
          <p:cNvSpPr>
            <a:spLocks noGrp="1"/>
          </p:cNvSpPr>
          <p:nvPr>
            <p:ph type="subTitle" idx="1"/>
          </p:nvPr>
        </p:nvSpPr>
        <p:spPr/>
        <p:txBody>
          <a:bodyPr/>
          <a:lstStyle/>
          <a:p>
            <a:r>
              <a:rPr lang="en-GB" b="1" u="sng" dirty="0"/>
              <a:t>Name: Kiara Israel ST10277747</a:t>
            </a:r>
            <a:endParaRPr lang="en-ZA" b="1" u="sng" dirty="0"/>
          </a:p>
        </p:txBody>
      </p:sp>
    </p:spTree>
    <p:extLst>
      <p:ext uri="{BB962C8B-B14F-4D97-AF65-F5344CB8AC3E}">
        <p14:creationId xmlns:p14="http://schemas.microsoft.com/office/powerpoint/2010/main" val="463229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38118-5847-B2B4-5A2F-1D9B60B8557E}"/>
              </a:ext>
            </a:extLst>
          </p:cNvPr>
          <p:cNvSpPr>
            <a:spLocks noGrp="1"/>
          </p:cNvSpPr>
          <p:nvPr>
            <p:ph type="title"/>
          </p:nvPr>
        </p:nvSpPr>
        <p:spPr/>
        <p:txBody>
          <a:bodyPr/>
          <a:lstStyle/>
          <a:p>
            <a:r>
              <a:rPr lang="en-GB" b="1" u="sng" dirty="0">
                <a:solidFill>
                  <a:schemeClr val="tx1"/>
                </a:solidFill>
              </a:rPr>
              <a:t>What Tools I used</a:t>
            </a:r>
            <a:endParaRPr lang="en-ZA" b="1" u="sng" dirty="0">
              <a:solidFill>
                <a:schemeClr val="tx1"/>
              </a:solidFill>
            </a:endParaRPr>
          </a:p>
        </p:txBody>
      </p:sp>
      <p:sp>
        <p:nvSpPr>
          <p:cNvPr id="3" name="Content Placeholder 2">
            <a:extLst>
              <a:ext uri="{FF2B5EF4-FFF2-40B4-BE49-F238E27FC236}">
                <a16:creationId xmlns:a16="http://schemas.microsoft.com/office/drawing/2014/main" id="{C93C8DD7-C4F1-E9A1-D69B-C9DF097B8435}"/>
              </a:ext>
            </a:extLst>
          </p:cNvPr>
          <p:cNvSpPr>
            <a:spLocks noGrp="1"/>
          </p:cNvSpPr>
          <p:nvPr>
            <p:ph idx="1"/>
          </p:nvPr>
        </p:nvSpPr>
        <p:spPr>
          <a:xfrm>
            <a:off x="758813" y="1056932"/>
            <a:ext cx="9569227" cy="5085173"/>
          </a:xfrm>
        </p:spPr>
        <p:txBody>
          <a:bodyPr/>
          <a:lstStyle/>
          <a:p>
            <a:pPr marL="0" indent="0">
              <a:buNone/>
            </a:pPr>
            <a:endParaRPr lang="en-ZA" dirty="0"/>
          </a:p>
          <a:p>
            <a:pPr marL="0" indent="0">
              <a:buNone/>
            </a:pPr>
            <a:r>
              <a:rPr lang="en-ZA" dirty="0"/>
              <a:t>ASP.NET MVC Web Application (With models and controllers as well as views) </a:t>
            </a:r>
          </a:p>
          <a:p>
            <a:pPr marL="0" indent="0">
              <a:buNone/>
            </a:pPr>
            <a:endParaRPr lang="en-GB" dirty="0"/>
          </a:p>
          <a:p>
            <a:pPr marL="0" indent="0">
              <a:buNone/>
            </a:pPr>
            <a:endParaRPr lang="en-GB" dirty="0"/>
          </a:p>
          <a:p>
            <a:pPr marL="0" indent="0">
              <a:buNone/>
            </a:pPr>
            <a:r>
              <a:rPr lang="en-GB" dirty="0"/>
              <a:t>SQL –SSMS</a:t>
            </a:r>
          </a:p>
          <a:p>
            <a:pPr marL="0" indent="0">
              <a:buNone/>
            </a:pPr>
            <a:endParaRPr lang="en-GB" dirty="0"/>
          </a:p>
          <a:p>
            <a:pPr marL="0" indent="0">
              <a:buNone/>
            </a:pPr>
            <a:endParaRPr lang="en-GB" dirty="0"/>
          </a:p>
          <a:p>
            <a:pPr marL="0" indent="0">
              <a:buNone/>
            </a:pPr>
            <a:r>
              <a:rPr lang="en-GB" dirty="0"/>
              <a:t>Entity Framework</a:t>
            </a:r>
          </a:p>
          <a:p>
            <a:endParaRPr lang="en-ZA" dirty="0"/>
          </a:p>
        </p:txBody>
      </p:sp>
      <p:pic>
        <p:nvPicPr>
          <p:cNvPr id="2050" name="Picture 2" descr="What is a web application - what you ...">
            <a:extLst>
              <a:ext uri="{FF2B5EF4-FFF2-40B4-BE49-F238E27FC236}">
                <a16:creationId xmlns:a16="http://schemas.microsoft.com/office/drawing/2014/main" id="{16528924-EB21-8CC0-22D3-A13CD15AEF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4276" y="1354396"/>
            <a:ext cx="1781613" cy="99770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SMS Tips and Tricks - SQL Masters ...">
            <a:extLst>
              <a:ext uri="{FF2B5EF4-FFF2-40B4-BE49-F238E27FC236}">
                <a16:creationId xmlns:a16="http://schemas.microsoft.com/office/drawing/2014/main" id="{99507C92-BD26-4527-A13B-7332639864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1284" y="2718861"/>
            <a:ext cx="2046329" cy="102639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Entity Framework - Best practices - The ...">
            <a:extLst>
              <a:ext uri="{FF2B5EF4-FFF2-40B4-BE49-F238E27FC236}">
                <a16:creationId xmlns:a16="http://schemas.microsoft.com/office/drawing/2014/main" id="{0ABC580F-049C-76B0-9789-8FF61A0192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2350" y="4047360"/>
            <a:ext cx="2236122" cy="1221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038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FF816-22A1-35F6-90B4-B58ABB3CD749}"/>
              </a:ext>
            </a:extLst>
          </p:cNvPr>
          <p:cNvSpPr>
            <a:spLocks noGrp="1"/>
          </p:cNvSpPr>
          <p:nvPr>
            <p:ph type="title"/>
          </p:nvPr>
        </p:nvSpPr>
        <p:spPr/>
        <p:txBody>
          <a:bodyPr/>
          <a:lstStyle/>
          <a:p>
            <a:r>
              <a:rPr lang="en-GB" b="1" u="sng" dirty="0"/>
              <a:t>What is the purpose of CMCS</a:t>
            </a:r>
            <a:endParaRPr lang="en-ZA" b="1" u="sng" dirty="0"/>
          </a:p>
        </p:txBody>
      </p:sp>
      <p:sp>
        <p:nvSpPr>
          <p:cNvPr id="3" name="Content Placeholder 2">
            <a:extLst>
              <a:ext uri="{FF2B5EF4-FFF2-40B4-BE49-F238E27FC236}">
                <a16:creationId xmlns:a16="http://schemas.microsoft.com/office/drawing/2014/main" id="{7AEF026B-D1AF-5A77-DD98-3DA7BAD59748}"/>
              </a:ext>
            </a:extLst>
          </p:cNvPr>
          <p:cNvSpPr>
            <a:spLocks noGrp="1"/>
          </p:cNvSpPr>
          <p:nvPr>
            <p:ph idx="1"/>
          </p:nvPr>
        </p:nvSpPr>
        <p:spPr/>
        <p:txBody>
          <a:bodyPr>
            <a:normAutofit fontScale="70000" lnSpcReduction="20000"/>
          </a:bodyPr>
          <a:lstStyle/>
          <a:p>
            <a:r>
              <a:rPr lang="en-GB" dirty="0"/>
              <a:t>The purpose of </a:t>
            </a:r>
            <a:r>
              <a:rPr lang="en-GB" b="1" dirty="0"/>
              <a:t>CMCS (Claims Management &amp; Control System)</a:t>
            </a:r>
            <a:r>
              <a:rPr lang="en-GB" dirty="0"/>
              <a:t> is to make life easier and manage the entire claims process within an organization. It allows users (e.g., Lecturers, admin users - Programme Coordinators and Academic Managers, and the super user HR) to:</a:t>
            </a:r>
          </a:p>
          <a:p>
            <a:r>
              <a:rPr lang="en-GB" b="1" dirty="0"/>
              <a:t>Submit claims</a:t>
            </a:r>
            <a:r>
              <a:rPr lang="en-GB" dirty="0"/>
              <a:t>: Lecturers can submit claims for reimbursement based on hours worked and hourly rates, along with necessary supporting documents.</a:t>
            </a:r>
          </a:p>
          <a:p>
            <a:r>
              <a:rPr lang="en-GB" b="1" dirty="0"/>
              <a:t>Verify and approve claims</a:t>
            </a:r>
            <a:r>
              <a:rPr lang="en-GB" dirty="0"/>
              <a:t>: Programme Coordinators and Academic Managers verify and approve the submitted claims, ensuring that they meet organizational standards and criteria.</a:t>
            </a:r>
          </a:p>
          <a:p>
            <a:r>
              <a:rPr lang="en-GB" b="1" dirty="0"/>
              <a:t>HR Management</a:t>
            </a:r>
            <a:r>
              <a:rPr lang="en-GB" dirty="0"/>
              <a:t>: HR handles the administrative side by managing user accounts, adding new users, and updating user information.</a:t>
            </a:r>
          </a:p>
          <a:p>
            <a:r>
              <a:rPr lang="en-GB" b="1" dirty="0"/>
              <a:t>Report Generation</a:t>
            </a:r>
            <a:r>
              <a:rPr lang="en-GB" dirty="0"/>
              <a:t>: HR can generate detailed reports and invoices for claims, allowing the organization to process payments efficiently.</a:t>
            </a:r>
          </a:p>
          <a:p>
            <a:r>
              <a:rPr lang="en-GB" b="1" dirty="0"/>
              <a:t>Security and Role Management</a:t>
            </a:r>
            <a:r>
              <a:rPr lang="en-GB" dirty="0"/>
              <a:t>: The system ensures that only authorized roles (HR, Programme Coordinators, Academic Managers, and Lecturers) have access to the relevant functionalities based on their role.</a:t>
            </a:r>
          </a:p>
          <a:p>
            <a:r>
              <a:rPr lang="en-GB" dirty="0"/>
              <a:t>CMCS ensures a smooth, automated process for claims submission, verification, and management, with clear accountability and tracking for all involved parties. The system's primary goal is to enhance efficiency, reduce manual errors, and improve overall claim processing within an organization.</a:t>
            </a:r>
          </a:p>
          <a:p>
            <a:endParaRPr lang="en-ZA" dirty="0"/>
          </a:p>
        </p:txBody>
      </p:sp>
    </p:spTree>
    <p:extLst>
      <p:ext uri="{BB962C8B-B14F-4D97-AF65-F5344CB8AC3E}">
        <p14:creationId xmlns:p14="http://schemas.microsoft.com/office/powerpoint/2010/main" val="2636707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9A80A-53B7-EA7C-7C5E-787555A2E3E8}"/>
              </a:ext>
            </a:extLst>
          </p:cNvPr>
          <p:cNvSpPr>
            <a:spLocks noGrp="1"/>
          </p:cNvSpPr>
          <p:nvPr>
            <p:ph type="title"/>
          </p:nvPr>
        </p:nvSpPr>
        <p:spPr/>
        <p:txBody>
          <a:bodyPr/>
          <a:lstStyle/>
          <a:p>
            <a:r>
              <a:rPr lang="en-GB" sz="1200" b="1" u="sng" dirty="0"/>
              <a:t>Login Page (Username and Role Selection)</a:t>
            </a:r>
            <a:br>
              <a:rPr lang="en-GB" sz="1200" dirty="0"/>
            </a:br>
            <a:r>
              <a:rPr lang="en-GB" sz="1200" dirty="0"/>
              <a:t>This page allows users to log in by selecting their role (e.g., HR, Lecturer, Programme Coordinator) and providing their username and password. It ensures that users enter the correct login credentials before being directed to their respective dashboard. The role-based logic on this page allows for role-specific access to functionalities (HR, Lecturer, Programme Coordinator).</a:t>
            </a:r>
            <a:endParaRPr lang="en-ZA" dirty="0"/>
          </a:p>
        </p:txBody>
      </p:sp>
      <p:pic>
        <p:nvPicPr>
          <p:cNvPr id="6" name="Content Placeholder 5" descr="A screenshot of a computer&#10;&#10;AI-generated content may be incorrect.">
            <a:extLst>
              <a:ext uri="{FF2B5EF4-FFF2-40B4-BE49-F238E27FC236}">
                <a16:creationId xmlns:a16="http://schemas.microsoft.com/office/drawing/2014/main" id="{B5878408-C62F-717A-0B41-779CA70ED25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738" b="5602"/>
          <a:stretch>
            <a:fillRect/>
          </a:stretch>
        </p:blipFill>
        <p:spPr>
          <a:xfrm>
            <a:off x="1838394" y="2052638"/>
            <a:ext cx="7421843" cy="3960704"/>
          </a:xfrm>
        </p:spPr>
      </p:pic>
    </p:spTree>
    <p:extLst>
      <p:ext uri="{BB962C8B-B14F-4D97-AF65-F5344CB8AC3E}">
        <p14:creationId xmlns:p14="http://schemas.microsoft.com/office/powerpoint/2010/main" val="2806300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E6C73-66CF-4FBC-A43A-B16F1D8978E9}"/>
              </a:ext>
            </a:extLst>
          </p:cNvPr>
          <p:cNvSpPr>
            <a:spLocks noGrp="1"/>
          </p:cNvSpPr>
          <p:nvPr>
            <p:ph type="title"/>
          </p:nvPr>
        </p:nvSpPr>
        <p:spPr/>
        <p:txBody>
          <a:bodyPr/>
          <a:lstStyle/>
          <a:p>
            <a:r>
              <a:rPr lang="en-GB" sz="1200" b="1" u="sng" dirty="0"/>
              <a:t>Lecturer Login with Lecturer ID</a:t>
            </a:r>
            <a:br>
              <a:rPr lang="en-GB" sz="1200" b="1" u="sng" dirty="0"/>
            </a:br>
            <a:r>
              <a:rPr lang="en-GB" sz="1200" dirty="0"/>
              <a:t>After entering the username and password, the Lecturer is prompted to enter their unique Lecturer ID. This ID is essential for distinguishing claims submitted by individual lecturers, as it is tied to their account and will be used for claim submission and management. This step ensures that each lecturer can only access and submit their own claims.</a:t>
            </a:r>
            <a:endParaRPr lang="en-ZA" sz="1200" dirty="0"/>
          </a:p>
        </p:txBody>
      </p:sp>
      <p:pic>
        <p:nvPicPr>
          <p:cNvPr id="5" name="Content Placeholder 4" descr="A screenshot of a computer&#10;&#10;AI-generated content may be incorrect.">
            <a:extLst>
              <a:ext uri="{FF2B5EF4-FFF2-40B4-BE49-F238E27FC236}">
                <a16:creationId xmlns:a16="http://schemas.microsoft.com/office/drawing/2014/main" id="{EAE8F9E3-2D25-5FBA-D17B-C797CC8991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29007" y="2052638"/>
            <a:ext cx="7695762" cy="4195762"/>
          </a:xfrm>
        </p:spPr>
      </p:pic>
    </p:spTree>
    <p:extLst>
      <p:ext uri="{BB962C8B-B14F-4D97-AF65-F5344CB8AC3E}">
        <p14:creationId xmlns:p14="http://schemas.microsoft.com/office/powerpoint/2010/main" val="3437318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0DAF-4DD3-FB9B-D76A-387EF32481A2}"/>
              </a:ext>
            </a:extLst>
          </p:cNvPr>
          <p:cNvSpPr>
            <a:spLocks noGrp="1"/>
          </p:cNvSpPr>
          <p:nvPr>
            <p:ph type="title"/>
          </p:nvPr>
        </p:nvSpPr>
        <p:spPr/>
        <p:txBody>
          <a:bodyPr/>
          <a:lstStyle/>
          <a:p>
            <a:r>
              <a:rPr lang="en-GB" sz="1200" b="1" u="sng" dirty="0"/>
              <a:t>Submit Claim Form</a:t>
            </a:r>
            <a:br>
              <a:rPr lang="en-GB" sz="1200" u="sng" dirty="0"/>
            </a:br>
            <a:r>
              <a:rPr lang="en-GB" sz="1200" dirty="0"/>
              <a:t>The Lecturer submits a claim by providing the number of hours worked, their hourly rate, and any task-related documents. Upon submission, the form calculates the total claim amount based on the hours worked and hourly rate. This must be automated. This page is used for claim submission, where lecturers can also upload supporting documents (e.g., PDFs).</a:t>
            </a:r>
            <a:endParaRPr lang="en-ZA" sz="1200" dirty="0"/>
          </a:p>
        </p:txBody>
      </p:sp>
      <p:pic>
        <p:nvPicPr>
          <p:cNvPr id="5" name="Content Placeholder 4" descr="A screenshot of a computer&#10;&#10;AI-generated content may be incorrect.">
            <a:extLst>
              <a:ext uri="{FF2B5EF4-FFF2-40B4-BE49-F238E27FC236}">
                <a16:creationId xmlns:a16="http://schemas.microsoft.com/office/drawing/2014/main" id="{56EB92CE-B460-1645-5C8E-CC71057589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7603" y="2052638"/>
            <a:ext cx="7558570" cy="4195762"/>
          </a:xfrm>
        </p:spPr>
      </p:pic>
    </p:spTree>
    <p:extLst>
      <p:ext uri="{BB962C8B-B14F-4D97-AF65-F5344CB8AC3E}">
        <p14:creationId xmlns:p14="http://schemas.microsoft.com/office/powerpoint/2010/main" val="510683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9C21F-40ED-9201-F927-CF461770AFF3}"/>
              </a:ext>
            </a:extLst>
          </p:cNvPr>
          <p:cNvSpPr>
            <a:spLocks noGrp="1"/>
          </p:cNvSpPr>
          <p:nvPr>
            <p:ph type="title"/>
          </p:nvPr>
        </p:nvSpPr>
        <p:spPr/>
        <p:txBody>
          <a:bodyPr/>
          <a:lstStyle/>
          <a:p>
            <a:r>
              <a:rPr lang="en-GB" sz="1200" b="1" u="sng" dirty="0"/>
              <a:t>Claim Successfully Verified by Programme Coordinator</a:t>
            </a:r>
            <a:br>
              <a:rPr lang="en-GB" sz="1200" dirty="0"/>
            </a:br>
            <a:r>
              <a:rPr lang="en-GB" sz="1200" dirty="0"/>
              <a:t>After submitting a claim, the Programme Coordinator can verify and approve it. This screen confirms that the claim has been successfully verified and updates its status. The claim then proceeds to the next stage (HR approval or payment processing). The Programme Coordinator also has the ability to approve or reject claims.</a:t>
            </a:r>
            <a:endParaRPr lang="en-ZA" sz="1200" dirty="0"/>
          </a:p>
        </p:txBody>
      </p:sp>
      <p:pic>
        <p:nvPicPr>
          <p:cNvPr id="5" name="Content Placeholder 4" descr="A screenshot of a computer screen&#10;&#10;AI-generated content may be incorrect.">
            <a:extLst>
              <a:ext uri="{FF2B5EF4-FFF2-40B4-BE49-F238E27FC236}">
                <a16:creationId xmlns:a16="http://schemas.microsoft.com/office/drawing/2014/main" id="{89B04953-588B-6FCB-DAE6-089BD1C7EA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8788" y="2052638"/>
            <a:ext cx="8936200" cy="4195762"/>
          </a:xfrm>
        </p:spPr>
      </p:pic>
      <p:cxnSp>
        <p:nvCxnSpPr>
          <p:cNvPr id="7" name="Straight Arrow Connector 6">
            <a:extLst>
              <a:ext uri="{FF2B5EF4-FFF2-40B4-BE49-F238E27FC236}">
                <a16:creationId xmlns:a16="http://schemas.microsoft.com/office/drawing/2014/main" id="{0A48B562-6306-66AE-BAEB-1A060B8AD0D9}"/>
              </a:ext>
            </a:extLst>
          </p:cNvPr>
          <p:cNvCxnSpPr>
            <a:cxnSpLocks/>
          </p:cNvCxnSpPr>
          <p:nvPr/>
        </p:nvCxnSpPr>
        <p:spPr>
          <a:xfrm flipH="1">
            <a:off x="4076054" y="1642820"/>
            <a:ext cx="2301499" cy="409818"/>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10" name="Rectangle 9">
            <a:extLst>
              <a:ext uri="{FF2B5EF4-FFF2-40B4-BE49-F238E27FC236}">
                <a16:creationId xmlns:a16="http://schemas.microsoft.com/office/drawing/2014/main" id="{53EAEB20-F2B2-6E05-630B-BBAFB5A30E57}"/>
              </a:ext>
            </a:extLst>
          </p:cNvPr>
          <p:cNvSpPr/>
          <p:nvPr/>
        </p:nvSpPr>
        <p:spPr>
          <a:xfrm>
            <a:off x="6377553" y="1198888"/>
            <a:ext cx="2301499" cy="1707499"/>
          </a:xfrm>
          <a:prstGeom prst="rect">
            <a:avLst/>
          </a:prstGeom>
          <a:solidFill>
            <a:schemeClr val="bg2">
              <a:lumMod val="7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This will approve the Processed Claim and finally go straight to the reports folder on the HR’s Side</a:t>
            </a:r>
            <a:endParaRPr lang="en-ZA" dirty="0"/>
          </a:p>
        </p:txBody>
      </p:sp>
    </p:spTree>
    <p:extLst>
      <p:ext uri="{BB962C8B-B14F-4D97-AF65-F5344CB8AC3E}">
        <p14:creationId xmlns:p14="http://schemas.microsoft.com/office/powerpoint/2010/main" val="4100450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D233-7EF3-473F-C3C3-A8BFBCAE567B}"/>
              </a:ext>
            </a:extLst>
          </p:cNvPr>
          <p:cNvSpPr>
            <a:spLocks noGrp="1"/>
          </p:cNvSpPr>
          <p:nvPr>
            <p:ph type="title"/>
          </p:nvPr>
        </p:nvSpPr>
        <p:spPr/>
        <p:txBody>
          <a:bodyPr/>
          <a:lstStyle/>
          <a:p>
            <a:r>
              <a:rPr lang="en-GB" sz="1200" b="1" u="sng" dirty="0"/>
              <a:t>HR Dashboard - Processed Claims</a:t>
            </a:r>
            <a:br>
              <a:rPr lang="en-GB" sz="1200" dirty="0"/>
            </a:br>
            <a:r>
              <a:rPr lang="en-GB" sz="1200" dirty="0"/>
              <a:t>The HR Dashboard is used to manage and track processed claims. The HR role has access to all claims that are either approved or pending for payment. HR personnel can download a processed claims report (in PDF or text format) and perform other administrative tasks, including updating user profiles and adding new users to the system. HR users are shown a dashboard summary with claim information such as claim amounts, dates, and status.</a:t>
            </a:r>
            <a:endParaRPr lang="en-ZA" sz="1200" dirty="0"/>
          </a:p>
        </p:txBody>
      </p:sp>
      <p:pic>
        <p:nvPicPr>
          <p:cNvPr id="5" name="Content Placeholder 4" descr="A screenshot of a dashboard&#10;&#10;AI-generated content may be incorrect.">
            <a:extLst>
              <a:ext uri="{FF2B5EF4-FFF2-40B4-BE49-F238E27FC236}">
                <a16:creationId xmlns:a16="http://schemas.microsoft.com/office/drawing/2014/main" id="{5858FE10-7BD6-F68D-057B-0BE0B063DF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3313" y="2549092"/>
            <a:ext cx="8947150" cy="3202853"/>
          </a:xfrm>
        </p:spPr>
      </p:pic>
    </p:spTree>
    <p:extLst>
      <p:ext uri="{BB962C8B-B14F-4D97-AF65-F5344CB8AC3E}">
        <p14:creationId xmlns:p14="http://schemas.microsoft.com/office/powerpoint/2010/main" val="2551771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5C812-8F7D-EAA1-AD5F-3616577B02CF}"/>
              </a:ext>
            </a:extLst>
          </p:cNvPr>
          <p:cNvSpPr>
            <a:spLocks noGrp="1"/>
          </p:cNvSpPr>
          <p:nvPr>
            <p:ph type="title"/>
          </p:nvPr>
        </p:nvSpPr>
        <p:spPr/>
        <p:txBody>
          <a:bodyPr/>
          <a:lstStyle/>
          <a:p>
            <a:r>
              <a:rPr lang="en-GB" sz="1200" b="1" u="sng" dirty="0"/>
              <a:t>HR Manage User Page</a:t>
            </a:r>
            <a:br>
              <a:rPr lang="en-GB" sz="1200" dirty="0"/>
            </a:br>
            <a:r>
              <a:rPr lang="en-GB" sz="1200" dirty="0"/>
              <a:t>This page allows the HR personnel to create, update, and manage users. HR can add new users by filling in essential details such as first name, last name, username, email, hourly rate, role, and password. HR has full access to modify user information and roles, ensuring that only authorized personnel can be assigned to specific roles within the system (Lecturer, Programme Coordinator, Academic Manager).</a:t>
            </a:r>
            <a:endParaRPr lang="en-ZA" sz="1200" dirty="0"/>
          </a:p>
        </p:txBody>
      </p:sp>
      <p:pic>
        <p:nvPicPr>
          <p:cNvPr id="5" name="Content Placeholder 4" descr="A screenshot of a computer&#10;&#10;AI-generated content may be incorrect.">
            <a:extLst>
              <a:ext uri="{FF2B5EF4-FFF2-40B4-BE49-F238E27FC236}">
                <a16:creationId xmlns:a16="http://schemas.microsoft.com/office/drawing/2014/main" id="{E6A634AD-2371-E8E6-07CE-23EC56B3C6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8114" y="2052638"/>
            <a:ext cx="4837547" cy="4195762"/>
          </a:xfrm>
        </p:spPr>
      </p:pic>
      <p:cxnSp>
        <p:nvCxnSpPr>
          <p:cNvPr id="7" name="Straight Arrow Connector 6">
            <a:extLst>
              <a:ext uri="{FF2B5EF4-FFF2-40B4-BE49-F238E27FC236}">
                <a16:creationId xmlns:a16="http://schemas.microsoft.com/office/drawing/2014/main" id="{6940C621-1B6D-7182-3422-78EDAF84FE77}"/>
              </a:ext>
            </a:extLst>
          </p:cNvPr>
          <p:cNvCxnSpPr>
            <a:cxnSpLocks/>
          </p:cNvCxnSpPr>
          <p:nvPr/>
        </p:nvCxnSpPr>
        <p:spPr>
          <a:xfrm flipH="1">
            <a:off x="5029200" y="2696705"/>
            <a:ext cx="4726983" cy="25572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C0886235-CFE2-6DCF-CAD2-EA6DC1E98B51}"/>
              </a:ext>
            </a:extLst>
          </p:cNvPr>
          <p:cNvSpPr/>
          <p:nvPr/>
        </p:nvSpPr>
        <p:spPr>
          <a:xfrm>
            <a:off x="9759723" y="2052638"/>
            <a:ext cx="2057735" cy="182193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dirty="0"/>
              <a:t>This is the error handling; this shows the HR that the rows must be filled perfectly</a:t>
            </a:r>
            <a:endParaRPr lang="en-ZA" dirty="0"/>
          </a:p>
        </p:txBody>
      </p:sp>
    </p:spTree>
    <p:extLst>
      <p:ext uri="{BB962C8B-B14F-4D97-AF65-F5344CB8AC3E}">
        <p14:creationId xmlns:p14="http://schemas.microsoft.com/office/powerpoint/2010/main" val="185331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1CAB4-1572-43A3-7044-4704C35CE3B8}"/>
              </a:ext>
            </a:extLst>
          </p:cNvPr>
          <p:cNvSpPr>
            <a:spLocks noGrp="1"/>
          </p:cNvSpPr>
          <p:nvPr>
            <p:ph type="title"/>
          </p:nvPr>
        </p:nvSpPr>
        <p:spPr/>
        <p:txBody>
          <a:bodyPr/>
          <a:lstStyle/>
          <a:p>
            <a:r>
              <a:rPr lang="en-GB" sz="1200" b="1" u="sng" dirty="0"/>
              <a:t>HR Edit User Information</a:t>
            </a:r>
            <a:br>
              <a:rPr lang="en-GB" sz="1200" dirty="0"/>
            </a:br>
            <a:r>
              <a:rPr lang="en-GB" sz="1200" dirty="0"/>
              <a:t>HR can edit existing user details such as name, email, username, hourly rate, and role. This page is part of the user management system, and HR can also reset or update passwords for users as needed.</a:t>
            </a:r>
            <a:endParaRPr lang="en-ZA" sz="1200" dirty="0"/>
          </a:p>
        </p:txBody>
      </p:sp>
      <p:pic>
        <p:nvPicPr>
          <p:cNvPr id="5" name="Content Placeholder 4" descr="A screenshot of a computer screen&#10;&#10;AI-generated content may be incorrect.">
            <a:extLst>
              <a:ext uri="{FF2B5EF4-FFF2-40B4-BE49-F238E27FC236}">
                <a16:creationId xmlns:a16="http://schemas.microsoft.com/office/drawing/2014/main" id="{CFA04598-E421-BD3A-B314-F53078254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0261" y="2052638"/>
            <a:ext cx="4093253" cy="4195762"/>
          </a:xfrm>
        </p:spPr>
      </p:pic>
    </p:spTree>
    <p:extLst>
      <p:ext uri="{BB962C8B-B14F-4D97-AF65-F5344CB8AC3E}">
        <p14:creationId xmlns:p14="http://schemas.microsoft.com/office/powerpoint/2010/main" val="1640691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8FA79-E75D-BA70-1C03-A85E911002F4}"/>
              </a:ext>
            </a:extLst>
          </p:cNvPr>
          <p:cNvSpPr>
            <a:spLocks noGrp="1"/>
          </p:cNvSpPr>
          <p:nvPr>
            <p:ph type="title"/>
          </p:nvPr>
        </p:nvSpPr>
        <p:spPr/>
        <p:txBody>
          <a:bodyPr/>
          <a:lstStyle/>
          <a:p>
            <a:r>
              <a:rPr lang="en-GB" sz="1200" b="1" u="sng" dirty="0"/>
              <a:t>Claims Ready for Payment (HR View)</a:t>
            </a:r>
            <a:br>
              <a:rPr lang="en-GB" sz="1200" dirty="0"/>
            </a:br>
            <a:r>
              <a:rPr lang="en-GB" sz="1200" dirty="0"/>
              <a:t>This screen shows claims that are ready for payment. HR is responsible for generating invoices for claims marked as "Approved." HR can download the invoice as a PDF, making this the final step before claims are processed for payment. This functionality allows for streamlined and accurate processing of claims for payment based on their status.</a:t>
            </a:r>
            <a:endParaRPr lang="en-ZA" sz="1200" dirty="0"/>
          </a:p>
        </p:txBody>
      </p:sp>
      <p:pic>
        <p:nvPicPr>
          <p:cNvPr id="5" name="Content Placeholder 4" descr="A screenshot of a computer&#10;&#10;AI-generated content may be incorrect.">
            <a:extLst>
              <a:ext uri="{FF2B5EF4-FFF2-40B4-BE49-F238E27FC236}">
                <a16:creationId xmlns:a16="http://schemas.microsoft.com/office/drawing/2014/main" id="{03B858DC-A99F-5E6D-24C1-CEC71D690D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3313" y="2959953"/>
            <a:ext cx="8947150" cy="2381132"/>
          </a:xfrm>
        </p:spPr>
      </p:pic>
      <p:cxnSp>
        <p:nvCxnSpPr>
          <p:cNvPr id="7" name="Straight Arrow Connector 6">
            <a:extLst>
              <a:ext uri="{FF2B5EF4-FFF2-40B4-BE49-F238E27FC236}">
                <a16:creationId xmlns:a16="http://schemas.microsoft.com/office/drawing/2014/main" id="{295F56A6-63F6-905F-9FEA-76793CF4EC00}"/>
              </a:ext>
            </a:extLst>
          </p:cNvPr>
          <p:cNvCxnSpPr>
            <a:cxnSpLocks/>
          </p:cNvCxnSpPr>
          <p:nvPr/>
        </p:nvCxnSpPr>
        <p:spPr>
          <a:xfrm>
            <a:off x="9345478" y="2378990"/>
            <a:ext cx="0" cy="2255003"/>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9" name="Rectangle 8">
            <a:extLst>
              <a:ext uri="{FF2B5EF4-FFF2-40B4-BE49-F238E27FC236}">
                <a16:creationId xmlns:a16="http://schemas.microsoft.com/office/drawing/2014/main" id="{63F68FF9-44EE-B18D-6614-97551B6E2167}"/>
              </a:ext>
            </a:extLst>
          </p:cNvPr>
          <p:cNvSpPr/>
          <p:nvPr/>
        </p:nvSpPr>
        <p:spPr>
          <a:xfrm>
            <a:off x="5576888" y="1635448"/>
            <a:ext cx="3835828" cy="106163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dirty="0"/>
              <a:t>This is the button that will allow the HR to download the Invoice statement and view it </a:t>
            </a:r>
            <a:endParaRPr lang="en-ZA" dirty="0"/>
          </a:p>
        </p:txBody>
      </p:sp>
    </p:spTree>
    <p:extLst>
      <p:ext uri="{BB962C8B-B14F-4D97-AF65-F5344CB8AC3E}">
        <p14:creationId xmlns:p14="http://schemas.microsoft.com/office/powerpoint/2010/main" val="3168076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4BE12E-D30D-31FA-87A8-48E7D225A7E3}"/>
              </a:ext>
            </a:extLst>
          </p:cNvPr>
          <p:cNvSpPr>
            <a:spLocks noGrp="1"/>
          </p:cNvSpPr>
          <p:nvPr>
            <p:ph idx="1"/>
          </p:nvPr>
        </p:nvSpPr>
        <p:spPr>
          <a:xfrm>
            <a:off x="1046135" y="1542082"/>
            <a:ext cx="8809989" cy="4853552"/>
          </a:xfrm>
        </p:spPr>
        <p:txBody>
          <a:bodyPr/>
          <a:lstStyle/>
          <a:p>
            <a:pPr marL="0" indent="0">
              <a:buNone/>
            </a:pPr>
            <a:r>
              <a:rPr lang="en-GB" sz="6600" b="1" u="sng" dirty="0"/>
              <a:t>Thank you for your      time and attention. </a:t>
            </a:r>
            <a:endParaRPr lang="en-ZA" b="1" u="sng" dirty="0"/>
          </a:p>
        </p:txBody>
      </p:sp>
      <p:pic>
        <p:nvPicPr>
          <p:cNvPr id="3074" name="Picture 2" descr="Most Popular Databases: Best Database ...">
            <a:extLst>
              <a:ext uri="{FF2B5EF4-FFF2-40B4-BE49-F238E27FC236}">
                <a16:creationId xmlns:a16="http://schemas.microsoft.com/office/drawing/2014/main" id="{5841CC79-C887-0283-EDFC-2DDC4708E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9388" y="3968858"/>
            <a:ext cx="299085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770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EB86B-F83A-BE9E-7D52-0AC344D0F7DA}"/>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6EC97499-4BD2-CA9C-EC34-C59386D7B6F3}"/>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10330660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
  <TotalTime>768</TotalTime>
  <Words>897</Words>
  <Application>Microsoft Office PowerPoint</Application>
  <PresentationFormat>Widescreen</PresentationFormat>
  <Paragraphs>31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vt:lpstr>
      <vt:lpstr>CMCS POE PART3 </vt:lpstr>
      <vt:lpstr>What Tools I used</vt:lpstr>
      <vt:lpstr>What is the purpose of CMCS</vt:lpstr>
      <vt:lpstr>Login Page (Username and Role Selection) This page allows users to log in by selecting their role (e.g., HR, Lecturer, Programme Coordinator) and providing their username and password. It ensures that users enter the correct login credentials before being directed to their respective dashboard. The role-based logic on this page allows for role-specific access to functionalities (HR, Lecturer, Programme Coordinator).</vt:lpstr>
      <vt:lpstr>Lecturer Login with Lecturer ID After entering the username and password, the Lecturer is prompted to enter their unique Lecturer ID. This ID is essential for distinguishing claims submitted by individual lecturers, as it is tied to their account and will be used for claim submission and management. This step ensures that each lecturer can only access and submit their own claims.</vt:lpstr>
      <vt:lpstr>Submit Claim Form The Lecturer submits a claim by providing the number of hours worked, their hourly rate, and any task-related documents. Upon submission, the form calculates the total claim amount based on the hours worked and hourly rate. This must be automated. This page is used for claim submission, where lecturers can also upload supporting documents (e.g., PDFs).</vt:lpstr>
      <vt:lpstr>Claim Successfully Verified by Programme Coordinator After submitting a claim, the Programme Coordinator can verify and approve it. This screen confirms that the claim has been successfully verified and updates its status. The claim then proceeds to the next stage (HR approval or payment processing). The Programme Coordinator also has the ability to approve or reject claims.</vt:lpstr>
      <vt:lpstr>HR Dashboard - Processed Claims The HR Dashboard is used to manage and track processed claims. The HR role has access to all claims that are either approved or pending for payment. HR personnel can download a processed claims report (in PDF or text format) and perform other administrative tasks, including updating user profiles and adding new users to the system. HR users are shown a dashboard summary with claim information such as claim amounts, dates, and status.</vt:lpstr>
      <vt:lpstr>HR Manage User Page This page allows the HR personnel to create, update, and manage users. HR can add new users by filling in essential details such as first name, last name, username, email, hourly rate, role, and password. HR has full access to modify user information and roles, ensuring that only authorized personnel can be assigned to specific roles within the system (Lecturer, Programme Coordinator, Academic Manager).</vt:lpstr>
      <vt:lpstr>HR Edit User Information HR can edit existing user details such as name, email, username, hourly rate, and role. This page is part of the user management system, and HR can also reset or update passwords for users as needed.</vt:lpstr>
      <vt:lpstr>Claims Ready for Payment (HR View) This screen shows claims that are ready for payment. HR is responsible for generating invoices for claims marked as "Approved." HR can download the invoice as a PDF, making this the final step before claims are processed for payment. This functionality allows for streamlined and accurate processing of claims for payment based on their status.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Kiara Israel</dc:creator>
  <cp:lastModifiedBy>Kiara Israel</cp:lastModifiedBy>
  <cp:revision>1</cp:revision>
  <dcterms:created xsi:type="dcterms:W3CDTF">2025-11-21T07:41:05Z</dcterms:created>
  <dcterms:modified xsi:type="dcterms:W3CDTF">2025-11-21T20:29:42Z</dcterms:modified>
</cp:coreProperties>
</file>